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Cost (₹ Crore)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0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D3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Conservative</c:v>
                  </c:pt>
                  <c:pt idx="1">
                    <c:v>Mid</c:v>
                  </c:pt>
                  <c:pt idx="2">
                    <c:v>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360</c:v>
                </c:pt>
                <c:pt idx="1">
                  <c:v>546</c:v>
                </c:pt>
                <c:pt idx="2">
                  <c:v>768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0D8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1280160"/>
            <a:ext cx="2286000" cy="36576"/>
          </a:xfrm>
          <a:prstGeom prst="rect">
            <a:avLst/>
          </a:prstGeom>
          <a:solidFill>
            <a:srgbClr val="00B0D8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4846320"/>
            <a:ext cx="2286000" cy="36576"/>
          </a:xfrm>
          <a:prstGeom prst="rect">
            <a:avLst/>
          </a:prstGeom>
          <a:solidFill>
            <a:srgbClr val="00B0D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0D8"/>
                </a:solidFill>
              </a:rPr>
              <a:t>ENTERPRISE AI  ·  L1 AUTOMATION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Dell RAG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 Bot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</a:rPr>
              <a:t>Replacing manual L1 search with a grounded,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</a:rPr>
              <a:t>cited AI answer layer — in under 10 seconds.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14173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0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₹360–770 Cr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75120" y="1874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Annual India Support Cost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0" y="26060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0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₹100–460 Cr+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3063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Potential Annual Savings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75120" y="37947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0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30–60%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75120" y="4251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Industry L1 Automation Rate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5278"/>
                </a:solidFill>
              </a:rPr>
              <a:t>Confidential — For Discussion Purposes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0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FA3BF"/>
                </a:solidFill>
              </a:rPr>
              <a:t>THE SCALE OF 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Dell's India Support Operation Is Massive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7432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789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19,800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9019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2"/>
                </a:solidFill>
              </a:rPr>
              <a:t>Employees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B42"/>
                </a:solidFill>
              </a:rPr>
              <a:t>(Dell India)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F"/>
                </a:solidFill>
              </a:rPr>
              <a:t>MCA filings, Mar 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05840"/>
            <a:ext cx="2743200" cy="54864"/>
          </a:xfrm>
          <a:prstGeom prst="rect">
            <a:avLst/>
          </a:prstGeom>
          <a:solidFill>
            <a:srgbClr val="00B0D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0789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0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5,000–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00B0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8,000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91840" y="19019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2"/>
                </a:solidFill>
              </a:rPr>
              <a:t>Estimated L1/L2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B42"/>
                </a:solidFill>
              </a:rPr>
              <a:t>Support Staff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F"/>
                </a:solidFill>
              </a:rPr>
              <a:t>25–40% of India entity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05840"/>
            <a:ext cx="2743200" cy="54864"/>
          </a:xfrm>
          <a:prstGeom prst="rect">
            <a:avLst/>
          </a:prstGeom>
          <a:solidFill>
            <a:srgbClr val="FF6D3B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0789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D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208%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17920" y="19019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2"/>
                </a:solidFill>
              </a:rPr>
              <a:t>Ops Hiring Growth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B42"/>
                </a:solidFill>
              </a:rPr>
              <a:t>in 3 Months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F"/>
                </a:solidFill>
              </a:rPr>
              <a:t>LinkedIn Insights Q1 2026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8412480" cy="150876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200400"/>
            <a:ext cx="64008" cy="1508760"/>
          </a:xfrm>
          <a:prstGeom prst="rect">
            <a:avLst/>
          </a:prstGeom>
          <a:solidFill>
            <a:srgbClr val="00B0D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10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0D8"/>
                </a:solidFill>
              </a:rPr>
              <a:t>208% Ops Hiring Growth — A Signal Worth Understanding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630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LinkedIn Insights shows Dell's Operations hiring grew 208% in Q1 2026. Operations hiring ≠ support hiring, and growth could reflect expansion, attrition, restructuring, or new projects — but at this scale, it raises a legitimate question: how much of this workload could a grounded AI layer absorb?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0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FA3BF"/>
                </a:solidFill>
              </a:rPr>
              <a:t>THE COST REALITY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₹360–770 Crore Annual India Support Cost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169164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554480"/>
                <a:gridCol w="1828800"/>
                <a:gridCol w="1554480"/>
              </a:tblGrid>
              <a:tr h="4229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Staff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Base Comp.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Fully Loaded (1.2×)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Annual Cost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</a:rPr>
                        <a:t>Conservative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</a:rPr>
                        <a:t>5,000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</a:rPr>
                        <a:t>₹6 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</a:rPr>
                        <a:t>₹7.2 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</a:rPr>
                        <a:t>₹360 Cr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</a:rPr>
                        <a:t>Mid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</a:rPr>
                        <a:t>6,500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</a:rPr>
                        <a:t>₹7 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</a:rPr>
                        <a:t>₹8.4 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0D8"/>
                          </a:solidFill>
                        </a:rPr>
                        <a:t>₹546 Cr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</a:rPr>
                        <a:t>8,000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</a:rPr>
                        <a:t>₹8 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B42"/>
                          </a:solidFill>
                        </a:rPr>
                        <a:t>₹9.6 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D3B"/>
                          </a:solidFill>
                        </a:rPr>
                        <a:t>₹768 Cr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27432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3BF"/>
                </a:solidFill>
              </a:rPr>
              <a:t>Sources: Glassdoor, PayScale, Indeed for compensation data. 1.2× benefits multiplier per standard HR industry practice.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2971800"/>
          <a:ext cx="84124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6D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FA3BF"/>
                </a:solidFill>
              </a:rPr>
              <a:t>THE CORE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B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 Support Is Repetitive, Slow, and Costly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463040" cy="9601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058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Asks Question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1435608"/>
            <a:ext cx="246888" cy="91440"/>
          </a:xfrm>
          <a:prstGeom prst="rect">
            <a:avLst/>
          </a:prstGeom>
          <a:solidFill>
            <a:srgbClr val="8FA3BF"/>
          </a:solidFill>
          <a:ln/>
        </p:spPr>
      </p:sp>
      <p:sp>
        <p:nvSpPr>
          <p:cNvPr id="8" name="Text 6"/>
          <p:cNvSpPr/>
          <p:nvPr/>
        </p:nvSpPr>
        <p:spPr>
          <a:xfrm>
            <a:off x="1911096" y="13716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29968" y="1005840"/>
            <a:ext cx="1463040" cy="960120"/>
          </a:xfrm>
          <a:prstGeom prst="rect">
            <a:avLst/>
          </a:prstGeom>
          <a:solidFill>
            <a:srgbClr val="00B0D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29968" y="10058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Manually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Searches KB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93008" y="1435608"/>
            <a:ext cx="246888" cy="91440"/>
          </a:xfrm>
          <a:prstGeom prst="rect">
            <a:avLst/>
          </a:prstGeom>
          <a:solidFill>
            <a:srgbClr val="8FA3BF"/>
          </a:solidFill>
          <a:ln/>
        </p:spPr>
      </p:sp>
      <p:sp>
        <p:nvSpPr>
          <p:cNvPr id="12" name="Text 10"/>
          <p:cNvSpPr/>
          <p:nvPr/>
        </p:nvSpPr>
        <p:spPr>
          <a:xfrm>
            <a:off x="3621024" y="13716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39896" y="1005840"/>
            <a:ext cx="1463040" cy="960120"/>
          </a:xfrm>
          <a:prstGeom prst="rect">
            <a:avLst/>
          </a:prstGeom>
          <a:solidFill>
            <a:srgbClr val="FF6D3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39896" y="10058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Finds Doc After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3–5 Minutes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02936" y="1435608"/>
            <a:ext cx="246888" cy="91440"/>
          </a:xfrm>
          <a:prstGeom prst="rect">
            <a:avLst/>
          </a:prstGeom>
          <a:solidFill>
            <a:srgbClr val="8FA3BF"/>
          </a:solidFill>
          <a:ln/>
        </p:spPr>
      </p:sp>
      <p:sp>
        <p:nvSpPr>
          <p:cNvPr id="16" name="Text 14"/>
          <p:cNvSpPr/>
          <p:nvPr/>
        </p:nvSpPr>
        <p:spPr>
          <a:xfrm>
            <a:off x="5330952" y="13716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49824" y="1005840"/>
            <a:ext cx="1463040" cy="96012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49824" y="10058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Reads &amp; Relays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Answer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12864" y="1435608"/>
            <a:ext cx="246888" cy="91440"/>
          </a:xfrm>
          <a:prstGeom prst="rect">
            <a:avLst/>
          </a:prstGeom>
          <a:solidFill>
            <a:srgbClr val="8FA3BF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13716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59752" y="1005840"/>
            <a:ext cx="1463040" cy="960120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59752" y="10058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Avg Handle Time: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8–11 Minutes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1488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FA3BF"/>
                </a:solidFill>
              </a:rPr>
              <a:t>MOST L1 QUERIES FOLLOW A PREDICTABLE PATTERN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377440"/>
            <a:ext cx="2697480" cy="77724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377440"/>
            <a:ext cx="54864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423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B42"/>
                </a:solidFill>
              </a:rPr>
              <a:t>"How do I update BIOS on my Inspiron?"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2377440"/>
            <a:ext cx="2697480" cy="77724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377440"/>
            <a:ext cx="54864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2423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B42"/>
                </a:solidFill>
              </a:rPr>
              <a:t>"XPS 15 not booting after Windows update"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377440"/>
            <a:ext cx="2697480" cy="777240"/>
          </a:xfrm>
          <a:prstGeom prst="rect">
            <a:avLst/>
          </a:prstGeom>
          <a:solidFill>
            <a:srgbClr val="EB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377440"/>
            <a:ext cx="54864" cy="7772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2423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B42"/>
                </a:solidFill>
              </a:rPr>
              <a:t>"How to claim warranty for my Dell laptop?"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291840"/>
            <a:ext cx="8412480" cy="1508760"/>
          </a:xfrm>
          <a:prstGeom prst="rect">
            <a:avLst/>
          </a:prstGeom>
          <a:solidFill>
            <a:srgbClr val="FFF4F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291840"/>
            <a:ext cx="64008" cy="1508760"/>
          </a:xfrm>
          <a:prstGeom prst="rect">
            <a:avLst/>
          </a:prstGeom>
          <a:solidFill>
            <a:srgbClr val="FF6D3B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4015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D3B"/>
                </a:solidFill>
              </a:rPr>
              <a:t>These Don't Need a Human. They Need the Right Document — Retrieved Instantly.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372160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42"/>
                </a:solidFill>
              </a:rPr>
              <a:t>The current manual workflow consumes 8–11 minutes per ticket on queries that are document-dependent and structurally predictable. A retrieval-augmented AI layer eliminates the search step entirely.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FA3BF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84048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RAG-Based AI Support Layer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05840"/>
            <a:ext cx="1965960" cy="1828800"/>
          </a:xfrm>
          <a:prstGeom prst="rect">
            <a:avLst/>
          </a:prstGeom>
          <a:solidFill>
            <a:srgbClr val="0A153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05840"/>
            <a:ext cx="1965960" cy="54864"/>
          </a:xfrm>
          <a:prstGeom prst="rect">
            <a:avLst/>
          </a:prstGeom>
          <a:solidFill>
            <a:srgbClr val="00B0D8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789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1490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Ingest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783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Dell public docs, manuals, troubleshooting guides, driver notes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50008" y="1691640"/>
            <a:ext cx="19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3BF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42032" y="1005840"/>
            <a:ext cx="1965960" cy="1828800"/>
          </a:xfrm>
          <a:prstGeom prst="rect">
            <a:avLst/>
          </a:prstGeom>
          <a:solidFill>
            <a:srgbClr val="0A153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1005840"/>
            <a:ext cx="1965960" cy="54864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10789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42032" y="1490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Embed &amp; Index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33472" y="1783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All content embedded and stored in vector database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07992" y="1691640"/>
            <a:ext cx="19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3BF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00016" y="1005840"/>
            <a:ext cx="1965960" cy="1828800"/>
          </a:xfrm>
          <a:prstGeom prst="rect">
            <a:avLst/>
          </a:prstGeom>
          <a:solidFill>
            <a:srgbClr val="0A153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1005840"/>
            <a:ext cx="1965960" cy="54864"/>
          </a:xfrm>
          <a:prstGeom prst="rect">
            <a:avLst/>
          </a:prstGeom>
          <a:solidFill>
            <a:srgbClr val="00B0D8"/>
          </a:solidFill>
          <a:ln/>
        </p:spPr>
      </p:sp>
      <p:sp>
        <p:nvSpPr>
          <p:cNvPr id="19" name="Text 17"/>
          <p:cNvSpPr/>
          <p:nvPr/>
        </p:nvSpPr>
        <p:spPr>
          <a:xfrm>
            <a:off x="4700016" y="10789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0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00016" y="1490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Retrieve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91456" y="1783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Query embedded → top-k relevant chunks retrieved via vector search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65976" y="1691640"/>
            <a:ext cx="192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3BF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0" y="1005840"/>
            <a:ext cx="1965960" cy="1828800"/>
          </a:xfrm>
          <a:prstGeom prst="rect">
            <a:avLst/>
          </a:prstGeom>
          <a:solidFill>
            <a:srgbClr val="0A153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0" y="1005840"/>
            <a:ext cx="1965960" cy="54864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107899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58000" y="14904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17830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LLM generates grounded, cited answer — no hallucination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" y="29718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53935"/>
                </a:solidFill>
              </a:rPr>
              <a:t>BEFORE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09160" y="29718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8C"/>
                </a:solidFill>
              </a:rPr>
              <a:t>WITH RAG BOT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3172968"/>
            <a:ext cx="4069080" cy="1627632"/>
          </a:xfrm>
          <a:prstGeom prst="rect">
            <a:avLst/>
          </a:prstGeom>
          <a:solidFill>
            <a:srgbClr val="0A153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" y="3172968"/>
            <a:ext cx="4069080" cy="457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324612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3BF"/>
                </a:solidFill>
              </a:rPr>
              <a:t>Customer asks question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3BF"/>
                </a:solidFill>
              </a:rPr>
              <a:t>Agent searches KB (3–5 min)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3BF"/>
                </a:solidFill>
              </a:rPr>
              <a:t>Reads &amp; relays answer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E53935"/>
                </a:solidFill>
              </a:rPr>
              <a:t>Total: 8–11 min / ticket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172968"/>
            <a:ext cx="4069080" cy="1627632"/>
          </a:xfrm>
          <a:prstGeom prst="rect">
            <a:avLst/>
          </a:prstGeom>
          <a:solidFill>
            <a:srgbClr val="0A153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172968"/>
            <a:ext cx="4069080" cy="45720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35" name="Text 33"/>
          <p:cNvSpPr/>
          <p:nvPr/>
        </p:nvSpPr>
        <p:spPr>
          <a:xfrm>
            <a:off x="4828032" y="324612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3BF"/>
                </a:solidFill>
              </a:rPr>
              <a:t>Customer/agent types query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3BF"/>
                </a:solidFill>
              </a:rPr>
              <a:t>Query embedded → vector search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3BF"/>
                </a:solidFill>
              </a:rPr>
              <a:t>Top-k chunks retrieved + LLM answer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00C48C"/>
                </a:solidFill>
              </a:rPr>
              <a:t>Total: &lt; 10 seconds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FA3BF"/>
                </a:solidFill>
              </a:rPr>
              <a:t>THE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Potential ₹100–460 Crore Annual Support Cost Reduction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743200" cy="640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Conservative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₹100 Cr+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FA3BF"/>
                </a:solidFill>
              </a:rPr>
              <a:t>potential annual savings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Automation target: 30%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Based on: ~30% L1 deflection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Payroll base: ₹360–770 Cr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953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BBCC"/>
                </a:solidFill>
              </a:rPr>
              <a:t>Excl. implementation &amp; ops costs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005840"/>
            <a:ext cx="2743200" cy="64008"/>
          </a:xfrm>
          <a:prstGeom prst="rect">
            <a:avLst/>
          </a:prstGeom>
          <a:solidFill>
            <a:srgbClr val="00B0D8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0D8"/>
                </a:solidFill>
              </a:rPr>
              <a:t>Mid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13898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0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₹200 Cr+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46120" y="19933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FA3BF"/>
                </a:solidFill>
              </a:rPr>
              <a:t>potential annual savings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83280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Automation target: 45%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24963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Based on: ~45% L1 deflection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Payroll base: ₹360–770 Cr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953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BBCC"/>
                </a:solidFill>
              </a:rPr>
              <a:t>Excl. implementation &amp; ops costs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26480" y="100584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005840"/>
            <a:ext cx="2743200" cy="64008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8C"/>
                </a:solidFill>
              </a:rPr>
              <a:t>Aggressive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138988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₹400 Cr+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126480" y="19933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FA3BF"/>
                </a:solidFill>
              </a:rPr>
              <a:t>potential annual savings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63640" y="22677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Automation target: 60%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63640" y="24963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Based on: ~60% L1 deflection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</a:rPr>
              <a:t>Payroll base: ₹360–770 Cr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63640" y="2953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BBCC"/>
                </a:solidFill>
              </a:rPr>
              <a:t>Excl. implementation &amp; ops costs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3429000"/>
            <a:ext cx="8412480" cy="15544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429000"/>
            <a:ext cx="64008" cy="1554480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538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8C"/>
                </a:solidFill>
              </a:rPr>
              <a:t>AI Platform Cost Is Significantly Lower Than Support Payroll — At Every Deployment Stage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2606040" cy="822960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9044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₹20L–₹80L / yr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" y="4279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</a:rPr>
              <a:t>MVP / Internal Pilot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37560" y="3858768"/>
            <a:ext cx="2606040" cy="822960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39" name="Text 37"/>
          <p:cNvSpPr/>
          <p:nvPr/>
        </p:nvSpPr>
        <p:spPr>
          <a:xfrm>
            <a:off x="3337560" y="39044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₹1–5 Cr / yr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337560" y="4279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</a:rPr>
              <a:t>Mid-Scale Enterprise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26480" y="3858768"/>
            <a:ext cx="2606040" cy="822960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42" name="Text 40"/>
          <p:cNvSpPr/>
          <p:nvPr/>
        </p:nvSpPr>
        <p:spPr>
          <a:xfrm>
            <a:off x="6126480" y="39044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₹5–20 Cr / yr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126480" y="4279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F"/>
                </a:solidFill>
              </a:rPr>
              <a:t>Full Enterprise Deployment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48640" y="47274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D5278"/>
                </a:solidFill>
              </a:rPr>
              <a:t>Even at full enterprise scale (₹20 Cr/yr), potential savings remain 20–50× larger than platform expenditure.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0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80F20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0D8"/>
                </a:solidFill>
              </a:rPr>
              <a:t>THE BOTTOM 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" y="1005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Dell's India support operations represent an estimated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" y="138988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B0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₹360–770 Crore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84048" y="2048256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annual workforce cost — driven largely by human-operated support workflows.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4048" y="2578608"/>
            <a:ext cx="8412480" cy="36576"/>
          </a:xfrm>
          <a:prstGeom prst="rect">
            <a:avLst/>
          </a:prstGeom>
          <a:solidFill>
            <a:srgbClr val="1E3A6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26974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A RAG-based L1 automation layer could potentially reduce annual support costs by ₹100–460 Crore, while AI platform costs remain significantly lower than enterprise support payroll expenditure.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" y="33375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5278"/>
                </a:solidFill>
              </a:rPr>
              <a:t>Illustrative estimates based on public workforce data, salary benchmarks, and modeled automation assumptions.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3657600"/>
            <a:ext cx="2743200" cy="457200"/>
          </a:xfrm>
          <a:prstGeom prst="rect">
            <a:avLst/>
          </a:prstGeom>
          <a:solidFill>
            <a:srgbClr val="00B0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3E"/>
                </a:solidFill>
              </a:rPr>
              <a:t>LET'S BUILD IT 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42062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278"/>
                </a:solidFill>
              </a:rPr>
              <a:t>Sources: Tracxn / MCA · Glassdoor · PayScale · LinkedIn Insights · IBM · McKinsey · Intercom · Dell public filings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Dell RAG Support Bot — Investment Pitch</dc:title>
  <dc:subject>PptxGenJS Presentation</dc:subject>
  <dc:creator>PptxGenJS</dc:creator>
  <cp:lastModifiedBy>PptxGenJS</cp:lastModifiedBy>
  <cp:revision>1</cp:revision>
  <dcterms:created xsi:type="dcterms:W3CDTF">2026-05-16T20:26:47Z</dcterms:created>
  <dcterms:modified xsi:type="dcterms:W3CDTF">2026-05-16T20:26:47Z</dcterms:modified>
</cp:coreProperties>
</file>